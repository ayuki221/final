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4" autoAdjust="0"/>
    <p:restoredTop sz="94660"/>
  </p:normalViewPr>
  <p:slideViewPr>
    <p:cSldViewPr snapToGrid="0">
      <p:cViewPr varScale="1">
        <p:scale>
          <a:sx n="78" d="100"/>
          <a:sy n="78" d="100"/>
        </p:scale>
        <p:origin x="64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26D6BD-57C5-48F0-908D-7A07F405DE29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C958E-69FD-4C52-96B7-A2738E137A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1749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9C958E-69FD-4C52-96B7-A2738E137A3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3255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B52BB-973A-4E44-0256-DB8401FCF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9CAFC69-EF8A-7A10-7CE4-770629770A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6B32333-E3B3-5A37-561B-80046BA2BC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970DFF5-0E85-E1A2-A42B-CFC4262526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9C958E-69FD-4C52-96B7-A2738E137A3A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0084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F8DDC-0DC4-3DA7-37BC-AEB6B22B6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F373128-0A44-6325-ED1C-DECF9D5CB7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C1739DA-5A3B-4931-3EBB-6A0F2BCF6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81A7616-FB6A-7056-8889-246CB64DFD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9C958E-69FD-4C52-96B7-A2738E137A3A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8436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48204-F15A-3673-A152-014CF3FD1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009746D-A342-B004-2D29-0AED46F140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A31D6EA-E833-9A14-12BD-6A14E2041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FAF6CB-11FF-7E73-7EAE-FDA4F4088C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9C958E-69FD-4C52-96B7-A2738E137A3A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3922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761FF-23D4-4B67-AF71-CFD643934EF6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BB5F-8AE8-4125-AA7A-74AC1F1EB4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250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761FF-23D4-4B67-AF71-CFD643934EF6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BB5F-8AE8-4125-AA7A-74AC1F1EB4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6612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761FF-23D4-4B67-AF71-CFD643934EF6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BB5F-8AE8-4125-AA7A-74AC1F1EB4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9322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761FF-23D4-4B67-AF71-CFD643934EF6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BB5F-8AE8-4125-AA7A-74AC1F1EB4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4178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761FF-23D4-4B67-AF71-CFD643934EF6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BB5F-8AE8-4125-AA7A-74AC1F1EB4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5608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761FF-23D4-4B67-AF71-CFD643934EF6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BB5F-8AE8-4125-AA7A-74AC1F1EB4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0533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761FF-23D4-4B67-AF71-CFD643934EF6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BB5F-8AE8-4125-AA7A-74AC1F1EB4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2896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761FF-23D4-4B67-AF71-CFD643934EF6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BB5F-8AE8-4125-AA7A-74AC1F1EB4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5684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761FF-23D4-4B67-AF71-CFD643934EF6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BB5F-8AE8-4125-AA7A-74AC1F1EB4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4348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761FF-23D4-4B67-AF71-CFD643934EF6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BB5F-8AE8-4125-AA7A-74AC1F1EB4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5264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761FF-23D4-4B67-AF71-CFD643934EF6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BB5F-8AE8-4125-AA7A-74AC1F1EB4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988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63761FF-23D4-4B67-AF71-CFD643934EF6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605BB5F-8AE8-4125-AA7A-74AC1F1EB4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5280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itYCC/crnn-pytorch" TargetMode="External"/><Relationship Id="rId2" Type="http://schemas.openxmlformats.org/officeDocument/2006/relationships/hyperlink" Target="https://acrocanthosaurus627.medium.com/pytorch-%E5%AF%A6%E4%BD%9C%E7%B3%BB%E5%88%97-crnn-b2a7a8fa1698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2C83BA-EDFA-AEA2-D5DF-012E2ACC95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TW" altLang="en-US" sz="4400"/>
              <a:t>影像處理</a:t>
            </a:r>
            <a:br>
              <a:rPr lang="en-US" altLang="zh-TW" sz="4400" dirty="0"/>
            </a:br>
            <a:r>
              <a:rPr lang="en-US" altLang="zh-TW" sz="2400" dirty="0"/>
              <a:t>captcha</a:t>
            </a:r>
            <a:r>
              <a:rPr lang="zh-TW" altLang="en-US" sz="2400" dirty="0"/>
              <a:t>驗證碼破解 </a:t>
            </a:r>
            <a:r>
              <a:rPr lang="en-US" altLang="zh-TW" sz="2400" dirty="0"/>
              <a:t>with </a:t>
            </a:r>
            <a:r>
              <a:rPr lang="en-US" altLang="zh-TW" sz="2400" dirty="0" err="1"/>
              <a:t>crnn</a:t>
            </a:r>
            <a:endParaRPr lang="zh-TW" altLang="en-US" sz="24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8D0F18F-B046-9400-73F2-28459381CD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學號：</a:t>
            </a:r>
            <a:r>
              <a:rPr lang="en-US" altLang="zh-TW" dirty="0"/>
              <a:t>u11116027</a:t>
            </a:r>
          </a:p>
          <a:p>
            <a:r>
              <a:rPr lang="zh-TW" altLang="en-US" dirty="0"/>
              <a:t>姓名：陳宣維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660969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4C8C73-0247-E9B4-F612-589F76CE3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600" dirty="0"/>
              <a:t>動機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93F2E07-8926-355C-D35A-E620CE968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/>
              <a:t>在進行網路爬蟲的過程中，我經常會遇到 </a:t>
            </a:r>
            <a:r>
              <a:rPr lang="en-US" altLang="zh-TW" sz="2400" dirty="0"/>
              <a:t>CAPTCHA </a:t>
            </a:r>
            <a:r>
              <a:rPr lang="zh-TW" altLang="en-US" sz="2400" dirty="0"/>
              <a:t>驗證機制。雖然目前已有一些線上的 </a:t>
            </a:r>
            <a:r>
              <a:rPr lang="en-US" altLang="zh-TW" sz="2400" dirty="0"/>
              <a:t>API </a:t>
            </a:r>
            <a:r>
              <a:rPr lang="zh-TW" altLang="en-US" sz="2400" dirty="0"/>
              <a:t>可用於自動破解這類驗證碼，但多數服務都需要額外付費，且效果不一，也是試過傳統的 </a:t>
            </a:r>
            <a:r>
              <a:rPr lang="en-US" altLang="zh-TW" sz="2400" dirty="0"/>
              <a:t>OCR </a:t>
            </a:r>
            <a:r>
              <a:rPr lang="zh-TW" altLang="en-US" sz="2400" dirty="0"/>
              <a:t>模型，但效果也不是特別好。</a:t>
            </a:r>
            <a:endParaRPr lang="en-US" altLang="zh-TW" sz="2400" dirty="0"/>
          </a:p>
          <a:p>
            <a:pPr>
              <a:lnSpc>
                <a:spcPct val="150000"/>
              </a:lnSpc>
            </a:pPr>
            <a:r>
              <a:rPr lang="zh-TW" altLang="en-US" sz="2400" dirty="0"/>
              <a:t>隨著我學習了影像處理與機器學習的相關知識，便萌生了自行訓練一個模型，來辨識並破解 </a:t>
            </a:r>
            <a:r>
              <a:rPr lang="en-US" altLang="zh-TW" sz="2400" dirty="0"/>
              <a:t>CAPTCHA </a:t>
            </a:r>
            <a:r>
              <a:rPr lang="zh-TW" altLang="en-US" sz="2400" dirty="0"/>
              <a:t>的想法。</a:t>
            </a:r>
          </a:p>
        </p:txBody>
      </p:sp>
    </p:spTree>
    <p:extLst>
      <p:ext uri="{BB962C8B-B14F-4D97-AF65-F5344CB8AC3E}">
        <p14:creationId xmlns:p14="http://schemas.microsoft.com/office/powerpoint/2010/main" val="1135213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4A5261-33FC-CE35-EA9B-D6EDE58B9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600" dirty="0"/>
              <a:t>目的</a:t>
            </a:r>
            <a:r>
              <a:rPr lang="en-US" altLang="zh-TW" sz="3600" dirty="0"/>
              <a:t>/</a:t>
            </a:r>
            <a:r>
              <a:rPr lang="zh-TW" altLang="en-US" sz="3600" dirty="0"/>
              <a:t>解決問題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34923A1-E0EB-91EA-C86D-D3ADB9917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/>
              <a:t>學習 </a:t>
            </a:r>
            <a:r>
              <a:rPr lang="en-US" altLang="zh-TW" sz="2400" dirty="0"/>
              <a:t>CRNN </a:t>
            </a:r>
            <a:r>
              <a:rPr lang="zh-TW" altLang="en-US" sz="2400" dirty="0"/>
              <a:t>與一般 </a:t>
            </a:r>
            <a:r>
              <a:rPr lang="en-US" altLang="zh-TW" sz="2400" dirty="0"/>
              <a:t>CNN</a:t>
            </a:r>
            <a:r>
              <a:rPr lang="zh-TW" altLang="en-US" sz="2400" dirty="0"/>
              <a:t> 模型的差別。</a:t>
            </a:r>
            <a:endParaRPr lang="en-US" altLang="zh-TW" sz="24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/>
              <a:t>解決目前自動化系統在處理圖形驗證碼（</a:t>
            </a:r>
            <a:r>
              <a:rPr lang="en-US" altLang="zh-TW" sz="2400" dirty="0"/>
              <a:t>CAPTCHA</a:t>
            </a:r>
            <a:r>
              <a:rPr lang="zh-TW" altLang="en-US" sz="2400" dirty="0"/>
              <a:t>）時的辨識困難問題。</a:t>
            </a:r>
            <a:endParaRPr lang="en-US" altLang="zh-TW" sz="24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/>
              <a:t>最終實作一套用以驗證模型可行性的圖形驗證碼辨識系統。</a:t>
            </a:r>
          </a:p>
        </p:txBody>
      </p:sp>
    </p:spTree>
    <p:extLst>
      <p:ext uri="{BB962C8B-B14F-4D97-AF65-F5344CB8AC3E}">
        <p14:creationId xmlns:p14="http://schemas.microsoft.com/office/powerpoint/2010/main" val="4161007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A76032-09B4-BD86-0DB7-3223B2054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600" dirty="0"/>
              <a:t>文獻探討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7C0198-3ED8-4D80-9195-701F41A3F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OCR</a:t>
            </a:r>
          </a:p>
          <a:p>
            <a:pPr lvl="1"/>
            <a:r>
              <a:rPr lang="zh-TW" altLang="en-US" dirty="0"/>
              <a:t>優點：使用方式簡單，有現成的工具使用，算力需求較低</a:t>
            </a:r>
            <a:endParaRPr lang="en-US" altLang="zh-TW" dirty="0"/>
          </a:p>
          <a:p>
            <a:pPr lvl="1"/>
            <a:r>
              <a:rPr lang="zh-TW" altLang="en-US" dirty="0"/>
              <a:t>缺點：若 </a:t>
            </a:r>
            <a:r>
              <a:rPr lang="en-US" altLang="zh-TW" dirty="0"/>
              <a:t>CAPTCHA </a:t>
            </a:r>
            <a:r>
              <a:rPr lang="zh-TW" altLang="en-US" dirty="0"/>
              <a:t>有干擾線、背景噪音、字元扭曲等情況，可能影響辨識準確率。</a:t>
            </a:r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  <a:p>
            <a:r>
              <a:rPr lang="en-US" altLang="zh-TW" dirty="0"/>
              <a:t>CNN</a:t>
            </a:r>
          </a:p>
          <a:p>
            <a:pPr lvl="1"/>
            <a:r>
              <a:rPr lang="zh-TW" altLang="en-US" dirty="0"/>
              <a:t>優點：能夠自動提取圖像中的邊緣、紋理與形狀等特徵，對於扭曲或變形的單一文字仍有良好辨識能力。</a:t>
            </a:r>
            <a:endParaRPr lang="en-US" altLang="zh-TW" dirty="0"/>
          </a:p>
          <a:p>
            <a:pPr lvl="1"/>
            <a:r>
              <a:rPr lang="zh-TW" altLang="en-US" dirty="0"/>
              <a:t>缺點：對於含有多個連續字符（如 </a:t>
            </a:r>
            <a:r>
              <a:rPr lang="en-US" altLang="zh-TW" dirty="0"/>
              <a:t>CAPTCHA</a:t>
            </a:r>
            <a:r>
              <a:rPr lang="zh-TW" altLang="en-US" dirty="0"/>
              <a:t>）時無法建模順序關係。需要仰賴額外的圖片預處理</a:t>
            </a:r>
            <a:r>
              <a:rPr lang="en-US" altLang="zh-TW" dirty="0"/>
              <a:t>(</a:t>
            </a:r>
            <a:r>
              <a:rPr lang="zh-TW" altLang="en-US" dirty="0"/>
              <a:t>切割</a:t>
            </a:r>
            <a:r>
              <a:rPr lang="en-US" altLang="zh-TW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47208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3C022C-EDF7-EB72-EE50-3F6944EBB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600" dirty="0"/>
              <a:t>文獻探討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BB6231-6C19-CB83-89D5-C6F2D400F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RNN / LSTM</a:t>
            </a:r>
          </a:p>
          <a:p>
            <a:pPr lvl="1"/>
            <a:r>
              <a:rPr lang="zh-TW" altLang="en-US" dirty="0"/>
              <a:t>優點：適合處理時間序列或順序資訊，例如語音辨識、文本生成等任務。</a:t>
            </a:r>
            <a:br>
              <a:rPr lang="zh-TW" altLang="en-US" dirty="0"/>
            </a:br>
            <a:r>
              <a:rPr lang="en-US" altLang="zh-TW" dirty="0"/>
              <a:t>LSTM </a:t>
            </a:r>
            <a:r>
              <a:rPr lang="zh-TW" altLang="en-US" dirty="0"/>
              <a:t>能夠記憶長期依賴關係，對於多字符 </a:t>
            </a:r>
            <a:r>
              <a:rPr lang="en-US" altLang="zh-TW" dirty="0"/>
              <a:t>CAPTCHA </a:t>
            </a:r>
            <a:r>
              <a:rPr lang="zh-TW" altLang="en-US" dirty="0"/>
              <a:t>的辨識具備優勢。</a:t>
            </a:r>
          </a:p>
          <a:p>
            <a:pPr lvl="1"/>
            <a:r>
              <a:rPr lang="zh-TW" altLang="en-US" dirty="0"/>
              <a:t>缺點：無法直接處理圖像，需要先將圖像轉換成序列格式後才能輸入。</a:t>
            </a:r>
            <a:br>
              <a:rPr lang="zh-TW" altLang="en-US" dirty="0"/>
            </a:br>
            <a:r>
              <a:rPr lang="zh-TW" altLang="en-US" dirty="0"/>
              <a:t>訓練速度較慢，容易受到梯度消失或爆炸的影響。</a:t>
            </a:r>
            <a:endParaRPr lang="en-US" altLang="zh-TW" dirty="0"/>
          </a:p>
          <a:p>
            <a:pPr marL="457200" lvl="1" indent="0">
              <a:buNone/>
            </a:pPr>
            <a:endParaRPr lang="zh-TW" altLang="en-US" dirty="0"/>
          </a:p>
          <a:p>
            <a:r>
              <a:rPr lang="en-US" altLang="zh-TW" dirty="0"/>
              <a:t>CTC</a:t>
            </a:r>
            <a:r>
              <a:rPr lang="zh-TW" altLang="en-US" dirty="0"/>
              <a:t>損失函數 </a:t>
            </a:r>
            <a:r>
              <a:rPr lang="en-US" altLang="zh-TW" dirty="0"/>
              <a:t>( vs </a:t>
            </a:r>
            <a:r>
              <a:rPr lang="en-US" altLang="zh-TW" dirty="0" err="1"/>
              <a:t>CrossEntropyLoss</a:t>
            </a:r>
            <a:r>
              <a:rPr lang="en-US" altLang="zh-TW" dirty="0"/>
              <a:t>)</a:t>
            </a:r>
            <a:endParaRPr lang="zh-TW" altLang="en-US" dirty="0"/>
          </a:p>
          <a:p>
            <a:pPr lvl="1"/>
            <a:r>
              <a:rPr lang="zh-TW" altLang="en-US" dirty="0"/>
              <a:t>優點：無需對齊每一個字元標註，適用於可變長輸出任務。</a:t>
            </a:r>
          </a:p>
          <a:p>
            <a:pPr lvl="1"/>
            <a:r>
              <a:rPr lang="zh-TW" altLang="en-US" dirty="0"/>
              <a:t>缺點：訓練不易收斂，對資料與模型架構敏感。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3596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0B69C1-3B2C-BE58-51C2-E6CAA6C30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600" dirty="0"/>
              <a:t>實驗方法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14F4406-3E3F-08B9-6940-A2AB308A5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蒐集驗證碼資料集 </a:t>
            </a:r>
            <a:r>
              <a:rPr lang="en-US" altLang="zh-TW" dirty="0"/>
              <a:t>=&gt;</a:t>
            </a:r>
            <a:r>
              <a:rPr lang="zh-TW" altLang="en-US" dirty="0"/>
              <a:t> 爬蟲 </a:t>
            </a:r>
            <a:r>
              <a:rPr lang="en-US" altLang="zh-TW" dirty="0"/>
              <a:t>(</a:t>
            </a:r>
            <a:r>
              <a:rPr lang="zh-TW" altLang="en-US" dirty="0"/>
              <a:t> 單一網站</a:t>
            </a:r>
            <a:r>
              <a:rPr lang="en-US" altLang="zh-TW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人工 </a:t>
            </a:r>
            <a:r>
              <a:rPr lang="en-US" altLang="zh-TW" dirty="0"/>
              <a:t>labeling ( 300</a:t>
            </a:r>
            <a:r>
              <a:rPr lang="zh-TW" altLang="en-US" dirty="0"/>
              <a:t> 多張 驗證碼圖片</a:t>
            </a:r>
            <a:r>
              <a:rPr lang="en-US" altLang="zh-TW" dirty="0"/>
              <a:t>)</a:t>
            </a:r>
          </a:p>
          <a:p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2F2834F-BD2B-9E77-05B1-18A409F00E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916"/>
          <a:stretch/>
        </p:blipFill>
        <p:spPr>
          <a:xfrm>
            <a:off x="2272485" y="3094418"/>
            <a:ext cx="7647030" cy="3398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852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D5A5E-2A9B-7A38-7E29-FB63C3736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AE40A7-F110-1165-C73A-F68FDDA2F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600" dirty="0"/>
              <a:t>實驗方法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4744C99-A3BA-4E24-7F33-051E64D72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zh-TW" altLang="en-US" dirty="0"/>
              <a:t>影像預處理</a:t>
            </a:r>
            <a:endParaRPr lang="en-US" altLang="zh-TW" dirty="0"/>
          </a:p>
          <a:p>
            <a:pPr lvl="1"/>
            <a:r>
              <a:rPr lang="zh-TW" altLang="en-US" dirty="0"/>
              <a:t>灰度轉換與降噪</a:t>
            </a:r>
            <a:endParaRPr lang="en-US" altLang="zh-TW" dirty="0"/>
          </a:p>
          <a:p>
            <a:pPr lvl="1"/>
            <a:r>
              <a:rPr lang="zh-TW" altLang="en-US" dirty="0"/>
              <a:t>形態學操作（如開運算、侵蝕、膨脹、閉運算）</a:t>
            </a:r>
            <a:endParaRPr lang="en-US" altLang="zh-TW" dirty="0"/>
          </a:p>
          <a:p>
            <a:pPr lvl="1"/>
            <a:r>
              <a:rPr lang="zh-TW" altLang="en-US" dirty="0"/>
              <a:t>二值化與輪廓篩選</a:t>
            </a:r>
            <a:endParaRPr lang="en-US" altLang="zh-TW" dirty="0"/>
          </a:p>
          <a:p>
            <a:pPr lvl="1"/>
            <a:endParaRPr lang="en-US" altLang="zh-TW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D556678F-79E7-395D-B634-0956425F0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596" y="4180314"/>
            <a:ext cx="3370393" cy="101111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2DE9ADFF-8F6D-DCE0-21F7-DA5E0960AA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698" y="4180314"/>
            <a:ext cx="3370393" cy="101111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83372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AEF05-41F7-5C9A-947B-B1DAE551C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4EBCA5-05D9-D620-E016-C6EC2CF66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600" dirty="0"/>
              <a:t>實驗方法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5FA1F7-0459-BA63-4BF7-14BC0E02F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zh-TW" altLang="en-US" dirty="0"/>
              <a:t>模型建構</a:t>
            </a:r>
            <a:r>
              <a:rPr lang="en-US" altLang="zh-TW" dirty="0"/>
              <a:t>(</a:t>
            </a:r>
            <a:r>
              <a:rPr lang="zh-TW" altLang="en-US" dirty="0"/>
              <a:t> </a:t>
            </a:r>
            <a:r>
              <a:rPr lang="en-US" altLang="zh-TW" dirty="0"/>
              <a:t>CRNN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and </a:t>
            </a:r>
            <a:r>
              <a:rPr lang="zh-TW" altLang="en-US" dirty="0"/>
              <a:t>訓練</a:t>
            </a:r>
            <a:endParaRPr lang="en-US" altLang="zh-TW" dirty="0"/>
          </a:p>
          <a:p>
            <a:pPr lvl="1"/>
            <a:r>
              <a:rPr lang="zh-TW" altLang="en-US" dirty="0"/>
              <a:t>資料集切割 </a:t>
            </a:r>
            <a:r>
              <a:rPr lang="en-US" altLang="zh-TW" dirty="0"/>
              <a:t>( train 0.7 ,</a:t>
            </a:r>
            <a:r>
              <a:rPr lang="en-US" altLang="zh-TW" dirty="0" err="1"/>
              <a:t>val</a:t>
            </a:r>
            <a:r>
              <a:rPr lang="en-US" altLang="zh-TW" dirty="0"/>
              <a:t> 0.15, test 0.15 )</a:t>
            </a:r>
          </a:p>
          <a:p>
            <a:pPr lvl="1"/>
            <a:r>
              <a:rPr lang="en-US" altLang="zh-TW" dirty="0"/>
              <a:t>CNN</a:t>
            </a:r>
            <a:r>
              <a:rPr lang="zh-TW" altLang="en-US" dirty="0"/>
              <a:t> 的特徵提取</a:t>
            </a:r>
            <a:endParaRPr lang="en-US" altLang="zh-TW" dirty="0"/>
          </a:p>
          <a:p>
            <a:pPr lvl="1"/>
            <a:r>
              <a:rPr lang="zh-TW" altLang="en-US" dirty="0"/>
              <a:t>把 </a:t>
            </a:r>
            <a:r>
              <a:rPr lang="en-US" altLang="zh-TW" dirty="0"/>
              <a:t>CNN</a:t>
            </a:r>
            <a:r>
              <a:rPr lang="zh-TW" altLang="en-US" dirty="0"/>
              <a:t> 提取出來的特徵餵給 </a:t>
            </a:r>
            <a:r>
              <a:rPr lang="en-US" altLang="zh-TW" dirty="0"/>
              <a:t>LSTM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能夠學習並記憶序列數據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再把 </a:t>
            </a:r>
            <a:r>
              <a:rPr lang="en-US" altLang="zh-TW" dirty="0"/>
              <a:t>LSTM </a:t>
            </a:r>
            <a:r>
              <a:rPr lang="zh-TW" altLang="en-US" dirty="0"/>
              <a:t>的輸出餵給分類器</a:t>
            </a:r>
            <a:endParaRPr lang="en-US" altLang="zh-TW" dirty="0"/>
          </a:p>
          <a:p>
            <a:pPr lvl="1"/>
            <a:r>
              <a:rPr lang="zh-TW" altLang="en-US" dirty="0"/>
              <a:t>最後再做反向傳播，更新網路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  <a:p>
            <a:pPr marL="457200" lvl="1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402513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C3F06-B264-39D7-AC33-EDA928231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6026E1-BB4B-8B0E-05B1-2B8F98F8D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600" dirty="0"/>
              <a:t>實驗方法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340CD9-6C70-AD16-1521-03A8BFCAF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5"/>
            </a:pPr>
            <a:r>
              <a:rPr lang="en-US" altLang="zh-TW" dirty="0"/>
              <a:t>Model</a:t>
            </a:r>
            <a:r>
              <a:rPr lang="zh-TW" altLang="en-US" dirty="0"/>
              <a:t> 的儲存</a:t>
            </a:r>
            <a:endParaRPr lang="en-US" altLang="zh-TW" dirty="0"/>
          </a:p>
          <a:p>
            <a:pPr lvl="1"/>
            <a:r>
              <a:rPr lang="zh-TW" altLang="en-US" dirty="0"/>
              <a:t>利用</a:t>
            </a:r>
            <a:r>
              <a:rPr lang="en-US" altLang="zh-TW" dirty="0"/>
              <a:t> validation </a:t>
            </a:r>
            <a:r>
              <a:rPr lang="zh-TW" altLang="en-US" dirty="0"/>
              <a:t>的 </a:t>
            </a:r>
            <a:r>
              <a:rPr lang="en-US" altLang="zh-TW" dirty="0"/>
              <a:t>accuracy</a:t>
            </a:r>
            <a:r>
              <a:rPr lang="zh-TW" altLang="en-US" dirty="0"/>
              <a:t> 進行擇優儲存</a:t>
            </a:r>
            <a:endParaRPr lang="en-US" altLang="zh-TW" dirty="0"/>
          </a:p>
          <a:p>
            <a:pPr lvl="1"/>
            <a:endParaRPr lang="en-US" altLang="zh-TW" dirty="0"/>
          </a:p>
          <a:p>
            <a:pPr marL="514350" indent="-514350">
              <a:buFont typeface="+mj-lt"/>
              <a:buAutoNum type="arabicPeriod" startAt="6"/>
            </a:pPr>
            <a:r>
              <a:rPr lang="en-US" altLang="zh-TW" dirty="0"/>
              <a:t>Load model </a:t>
            </a:r>
            <a:r>
              <a:rPr lang="zh-TW" altLang="en-US" dirty="0"/>
              <a:t>並在實際的爬蟲使用</a:t>
            </a:r>
            <a:endParaRPr lang="en-US" altLang="zh-TW" dirty="0"/>
          </a:p>
          <a:p>
            <a:pPr lvl="1"/>
            <a:r>
              <a:rPr lang="zh-TW" altLang="en-US" dirty="0"/>
              <a:t>在自動化爬蟲的時候，把圖片暫存，然後進行圖片預處理</a:t>
            </a:r>
            <a:endParaRPr lang="en-US" altLang="zh-TW" dirty="0"/>
          </a:p>
          <a:p>
            <a:pPr lvl="1"/>
            <a:r>
              <a:rPr lang="zh-TW" altLang="en-US" dirty="0"/>
              <a:t>把圖片丟進 </a:t>
            </a:r>
            <a:r>
              <a:rPr lang="en-US" altLang="zh-TW" dirty="0"/>
              <a:t>load </a:t>
            </a:r>
            <a:r>
              <a:rPr lang="zh-TW" altLang="en-US" dirty="0"/>
              <a:t>好的</a:t>
            </a:r>
            <a:r>
              <a:rPr lang="en-US" altLang="zh-TW" dirty="0"/>
              <a:t>model </a:t>
            </a:r>
            <a:r>
              <a:rPr lang="zh-TW" altLang="en-US" dirty="0"/>
              <a:t>裡</a:t>
            </a:r>
            <a:endParaRPr lang="en-US" altLang="zh-TW" dirty="0"/>
          </a:p>
          <a:p>
            <a:pPr lvl="1"/>
            <a:r>
              <a:rPr lang="zh-TW" altLang="en-US" dirty="0"/>
              <a:t>再把 </a:t>
            </a:r>
            <a:r>
              <a:rPr lang="en-US" altLang="zh-TW" dirty="0"/>
              <a:t>model</a:t>
            </a:r>
            <a:r>
              <a:rPr lang="zh-TW" altLang="en-US" dirty="0"/>
              <a:t> 的 </a:t>
            </a:r>
            <a:r>
              <a:rPr lang="en-US" altLang="zh-TW" dirty="0"/>
              <a:t>output </a:t>
            </a:r>
            <a:r>
              <a:rPr lang="zh-TW" altLang="en-US" dirty="0"/>
              <a:t>放回驗證碼的輸入框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460932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2B5C25-8869-CB88-291C-26277E92F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實驗結果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D34F64-451F-A1F9-8B3C-FF8F5E2DE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最高測試集的 </a:t>
            </a:r>
            <a:r>
              <a:rPr lang="en-US" altLang="zh-TW" dirty="0"/>
              <a:t>accuracy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91.84%</a:t>
            </a:r>
          </a:p>
          <a:p>
            <a:endParaRPr lang="en-US" altLang="zh-TW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8398F8C-B188-103C-0F1B-9736044AFE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0" t="-3777" r="8760" b="35381"/>
          <a:stretch/>
        </p:blipFill>
        <p:spPr bwMode="auto">
          <a:xfrm>
            <a:off x="892019" y="2926198"/>
            <a:ext cx="10407962" cy="2619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4977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90085E52-76A4-E365-043B-C2F1ADAD3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45" y="1100060"/>
            <a:ext cx="11178910" cy="465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82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CB42D9-7A82-F89D-6A3F-8F74EBC7B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參考資料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8A4B53-FE05-C2C8-DF1D-19B9DDB1A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zh-TW" dirty="0">
                <a:hlinkClick r:id="rId2"/>
              </a:rPr>
              <a:t>Pytorch </a:t>
            </a:r>
            <a:r>
              <a:rPr lang="zh-TW" altLang="en-US" dirty="0">
                <a:hlinkClick r:id="rId2"/>
              </a:rPr>
              <a:t>實作系列 </a:t>
            </a:r>
            <a:r>
              <a:rPr lang="en-US" altLang="zh-TW" dirty="0">
                <a:hlinkClick r:id="rId2"/>
              </a:rPr>
              <a:t>— CRNN. Convolution recurrent neural network </a:t>
            </a:r>
            <a:r>
              <a:rPr lang="zh-TW" altLang="en-US" dirty="0">
                <a:hlinkClick r:id="rId2"/>
              </a:rPr>
              <a:t>於</a:t>
            </a:r>
            <a:r>
              <a:rPr lang="en-US" altLang="zh-TW" dirty="0">
                <a:hlinkClick r:id="rId2"/>
              </a:rPr>
              <a:t>… | by </a:t>
            </a:r>
            <a:r>
              <a:rPr lang="en-US" altLang="zh-TW" dirty="0" err="1">
                <a:hlinkClick r:id="rId2"/>
              </a:rPr>
              <a:t>mz</a:t>
            </a:r>
            <a:r>
              <a:rPr lang="en-US" altLang="zh-TW" dirty="0">
                <a:hlinkClick r:id="rId2"/>
              </a:rPr>
              <a:t> bai | Medium</a:t>
            </a:r>
            <a:endParaRPr lang="en-US" altLang="zh-TW" dirty="0"/>
          </a:p>
          <a:p>
            <a:pPr>
              <a:lnSpc>
                <a:spcPct val="100000"/>
              </a:lnSpc>
            </a:pPr>
            <a:r>
              <a:rPr lang="en-US" altLang="zh-TW" dirty="0">
                <a:hlinkClick r:id="rId3"/>
              </a:rPr>
              <a:t>https://github.com/GitYCC/crnn-pytorch</a:t>
            </a:r>
            <a:endParaRPr lang="en-US" altLang="zh-TW" dirty="0"/>
          </a:p>
          <a:p>
            <a:pPr>
              <a:lnSpc>
                <a:spcPct val="100000"/>
              </a:lnSpc>
            </a:pPr>
            <a:r>
              <a:rPr lang="zh-TW" altLang="en-US" dirty="0"/>
              <a:t>老師講義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150952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1480</TotalTime>
  <Words>587</Words>
  <Application>Microsoft Office PowerPoint</Application>
  <PresentationFormat>寬螢幕</PresentationFormat>
  <Paragraphs>60</Paragraphs>
  <Slides>12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影像處理 captcha驗證碼破解 with crnn</vt:lpstr>
      <vt:lpstr>動機</vt:lpstr>
      <vt:lpstr>目的/解決問題</vt:lpstr>
      <vt:lpstr>文獻探討</vt:lpstr>
      <vt:lpstr>文獻探討</vt:lpstr>
      <vt:lpstr>實驗方法</vt:lpstr>
      <vt:lpstr>實驗方法</vt:lpstr>
      <vt:lpstr>實驗方法</vt:lpstr>
      <vt:lpstr>實驗方法</vt:lpstr>
      <vt:lpstr>實驗結果</vt:lpstr>
      <vt:lpstr>PowerPoint 簡報</vt:lpstr>
      <vt:lpstr>參考資料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JEFF Liao</dc:creator>
  <cp:lastModifiedBy>宣維 陳</cp:lastModifiedBy>
  <cp:revision>37</cp:revision>
  <dcterms:created xsi:type="dcterms:W3CDTF">2025-05-30T14:17:52Z</dcterms:created>
  <dcterms:modified xsi:type="dcterms:W3CDTF">2025-12-22T05:12:08Z</dcterms:modified>
</cp:coreProperties>
</file>